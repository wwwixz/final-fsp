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73152" cy="3429000"/>
          </a:xfrm>
          <a:prstGeom prst="rect">
            <a:avLst/>
          </a:prstGeom>
          <a:solidFill>
            <a:srgbClr val="E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" y="530352"/>
            <a:ext cx="2112264" cy="292608"/>
          </a:xfrm>
          <a:prstGeom prst="roundRect">
            <a:avLst>
              <a:gd name="adj" fmla="val 12000"/>
            </a:avLst>
          </a:prstGeom>
          <a:solidFill>
            <a:srgbClr val="2C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530352"/>
            <a:ext cx="1929384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ПРОБЛЕМА И РЕШЕНИЕ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216152"/>
            <a:ext cx="7315200" cy="18288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3500" b="1">
                <a:solidFill>
                  <a:srgbClr val="FFFFFF"/>
                </a:solidFill>
                <a:latin typeface="Arial"/>
              </a:defRPr>
            </a:pPr>
            <a:r>
              <a:t>От поиска постов —</a:t>
            </a:r>
          </a:p>
          <a:p>
            <a:pPr algn="l">
              <a:spcAft>
                <a:spcPts val="300"/>
              </a:spcAft>
              <a:defRPr sz="3500" b="1">
                <a:solidFill>
                  <a:srgbClr val="FFFFFF"/>
                </a:solidFill>
                <a:latin typeface="Arial"/>
              </a:defRPr>
            </a:pPr>
            <a:r>
              <a:t>к проверяемой подборке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246120"/>
            <a:ext cx="6858000" cy="106070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700" b="0">
                <a:solidFill>
                  <a:srgbClr val="C7D3E2"/>
                </a:solidFill>
                <a:latin typeface="Arial"/>
              </a:defRPr>
            </a:pPr>
            <a:r>
              <a:t>Медиамониторинг VK, Одноклассников и MAX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C7D3E2"/>
                </a:solidFill>
                <a:latin typeface="Arial"/>
              </a:defRPr>
            </a:pPr>
            <a:r>
              <a:t>для Агентства печати и массовых коммуникаций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C7D3E2"/>
                </a:solidFill>
                <a:latin typeface="Arial"/>
              </a:defRPr>
            </a:pPr>
            <a:r>
              <a:t>Красноярского края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6117336"/>
            <a:ext cx="640080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8FA3BC"/>
                </a:solidFill>
                <a:latin typeface="Arial"/>
              </a:defRPr>
            </a:pPr>
            <a:r>
              <a:t>Фрагмент презентации · концепция продукта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9912" y="1261872"/>
            <a:ext cx="2834640" cy="1042415"/>
          </a:xfrm>
          <a:prstGeom prst="roundRect">
            <a:avLst>
              <a:gd name="adj" fmla="val 12000"/>
            </a:avLst>
          </a:prstGeom>
          <a:solidFill>
            <a:srgbClr val="152C4B"/>
          </a:solidFill>
          <a:ln w="12700">
            <a:solidFill>
              <a:srgbClr val="3D5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04504" y="1389888"/>
            <a:ext cx="2505456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FB5E75"/>
                </a:solidFill>
                <a:latin typeface="Arial"/>
              </a:defRPr>
            </a:pPr>
            <a:r>
              <a:t>ЗАПРОС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04504" y="1618488"/>
            <a:ext cx="2505456" cy="4846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Открытие ледового дворца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615184"/>
            <a:ext cx="2468880" cy="1042415"/>
          </a:xfrm>
          <a:prstGeom prst="roundRect">
            <a:avLst>
              <a:gd name="adj" fmla="val 12000"/>
            </a:avLst>
          </a:prstGeom>
          <a:solidFill>
            <a:srgbClr val="152C4B"/>
          </a:solidFill>
          <a:ln w="12700">
            <a:solidFill>
              <a:srgbClr val="3D5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88552" y="2743200"/>
            <a:ext cx="2139696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FB5E75"/>
                </a:solidFill>
                <a:latin typeface="Arial"/>
              </a:defRPr>
            </a:pPr>
            <a:r>
              <a:t>ПОИСК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8552" y="2971800"/>
            <a:ext cx="2139696" cy="4846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VK · ОК · MAX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9327" y="3968496"/>
            <a:ext cx="2926080" cy="1042415"/>
          </a:xfrm>
          <a:prstGeom prst="roundRect">
            <a:avLst>
              <a:gd name="adj" fmla="val 12000"/>
            </a:avLst>
          </a:prstGeom>
          <a:solidFill>
            <a:srgbClr val="152C4B"/>
          </a:solidFill>
          <a:ln w="12700">
            <a:solidFill>
              <a:srgbClr val="3D5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9" y="4096511"/>
            <a:ext cx="2596896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FB5E75"/>
                </a:solidFill>
                <a:latin typeface="Arial"/>
              </a:defRPr>
            </a:pPr>
            <a:r>
              <a:t>РЕЗУЛЬТАТ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4325112"/>
            <a:ext cx="2596896" cy="4846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Размещения + ссылки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246888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4738B"/>
                </a:solidFill>
                <a:latin typeface="Arial"/>
              </a:defRPr>
            </a:pPr>
            <a:r>
              <a:t>МЕДИАСЛЕД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6519672"/>
            <a:ext cx="3346704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4738B"/>
                </a:solidFill>
                <a:latin typeface="Arial"/>
              </a:defRPr>
            </a:pPr>
            <a:r>
              <a:t>ТЗ, стр. 2 и 5  ·  02 /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676656"/>
            <a:ext cx="1499616" cy="292608"/>
          </a:xfrm>
          <a:prstGeom prst="roundRect">
            <a:avLst>
              <a:gd name="adj" fmla="val 12000"/>
            </a:avLst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76656"/>
            <a:ext cx="1316736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E51D3B"/>
                </a:solidFill>
                <a:latin typeface="Arial"/>
              </a:defRPr>
            </a:pPr>
            <a:r>
              <a:t>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972800" cy="62179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14243D"/>
                </a:solidFill>
                <a:latin typeface="Arial"/>
              </a:defRPr>
            </a:pPr>
            <a:r>
              <a:t>Одна новость — разные тексты и разные события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00784"/>
            <a:ext cx="10789920" cy="53035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64738B"/>
                </a:solidFill>
                <a:latin typeface="Arial"/>
              </a:defRPr>
            </a:pPr>
            <a:r>
              <a:t>Сотруднику нужно находить распространение конкретной новости, даже если её переписали.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523744"/>
            <a:ext cx="3246120" cy="2258568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743200"/>
            <a:ext cx="411480" cy="411480"/>
          </a:xfrm>
          <a:prstGeom prst="ellipse">
            <a:avLst/>
          </a:prstGeom>
          <a:solidFill>
            <a:srgbClr val="4D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61488"/>
            <a:ext cx="411480" cy="35661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73552"/>
            <a:ext cx="2788920" cy="35661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243D"/>
                </a:solidFill>
                <a:latin typeface="Arial"/>
              </a:defRPr>
            </a:pPr>
            <a:r>
              <a:t>Исходная публикация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85032"/>
            <a:ext cx="2788920" cy="8046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64738B"/>
                </a:solidFill>
                <a:latin typeface="Arial"/>
              </a:defRPr>
            </a:pPr>
            <a:r>
              <a:t>«В Красноярске открылся новый ледовый дворец»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1416" y="2523744"/>
            <a:ext cx="3246120" cy="225856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72583" y="2743200"/>
            <a:ext cx="411480" cy="411480"/>
          </a:xfrm>
          <a:prstGeom prst="ellipse">
            <a:avLst/>
          </a:prstGeom>
          <a:solidFill>
            <a:srgbClr val="152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3" y="2761488"/>
            <a:ext cx="411480" cy="35661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3" y="3273552"/>
            <a:ext cx="2788920" cy="35661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243D"/>
                </a:solidFill>
                <a:latin typeface="Arial"/>
              </a:defRPr>
            </a:pPr>
            <a:r>
              <a:t>Пересказ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3" y="3685032"/>
            <a:ext cx="2788920" cy="8046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64738B"/>
                </a:solidFill>
                <a:latin typeface="Arial"/>
              </a:defRPr>
            </a:pPr>
            <a:r>
              <a:t>«Город получил новую ледовую арену»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523744"/>
            <a:ext cx="3246120" cy="2258568"/>
          </a:xfrm>
          <a:prstGeom prst="roundRect">
            <a:avLst>
              <a:gd name="adj" fmla="val 12000"/>
            </a:avLst>
          </a:prstGeom>
          <a:solidFill>
            <a:srgbClr val="FFF0F2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22208" y="2743200"/>
            <a:ext cx="411480" cy="411480"/>
          </a:xfrm>
          <a:prstGeom prst="ellipse">
            <a:avLst/>
          </a:prstGeom>
          <a:solidFill>
            <a:srgbClr val="E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761488"/>
            <a:ext cx="411480" cy="35661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3273552"/>
            <a:ext cx="2788920" cy="35661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243D"/>
                </a:solidFill>
                <a:latin typeface="Arial"/>
              </a:defRPr>
            </a:pPr>
            <a:r>
              <a:t>Похожий текст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3685032"/>
            <a:ext cx="2788920" cy="8046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64738B"/>
                </a:solidFill>
                <a:latin typeface="Arial"/>
              </a:defRPr>
            </a:pPr>
            <a:r>
              <a:t>«Ледовую арену открыли в другом городе»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0208" y="3374136"/>
            <a:ext cx="384048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218A62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8975" y="3374136"/>
            <a:ext cx="384048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E51D3B"/>
                </a:solidFill>
                <a:latin typeface="Arial"/>
              </a:defRPr>
            </a:pPr>
            <a:r>
              <a:t>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5184648"/>
            <a:ext cx="10945368" cy="859536"/>
          </a:xfrm>
          <a:prstGeom prst="roundRect">
            <a:avLst>
              <a:gd name="adj" fmla="val 12000"/>
            </a:avLst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1033272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Простое совпадение слов не различает пересказ и другое событие.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792" y="658368"/>
            <a:ext cx="2039112" cy="292608"/>
          </a:xfrm>
          <a:prstGeom prst="roundRect">
            <a:avLst>
              <a:gd name="adj" fmla="val 12000"/>
            </a:avLst>
          </a:prstGeom>
          <a:solidFill>
            <a:srgbClr val="2C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1856231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ЦЕНА РУЧНОЙ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881360" cy="6126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Сотрудник вынужден искать и перепроверять вручную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46504"/>
            <a:ext cx="1069848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B8C6D8"/>
                </a:solidFill>
                <a:latin typeface="Arial"/>
              </a:defRPr>
            </a:pPr>
            <a:r>
              <a:t>Проблема возникает на каждом этапе — от охвата площадок до готового отчёта.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450592"/>
            <a:ext cx="5385816" cy="1389888"/>
          </a:xfrm>
          <a:prstGeom prst="roundRect">
            <a:avLst>
              <a:gd name="adj" fmla="val 12000"/>
            </a:avLst>
          </a:prstGeom>
          <a:solidFill>
            <a:srgbClr val="152C4B"/>
          </a:solidFill>
          <a:ln w="12700">
            <a:solidFill>
              <a:srgbClr val="39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2670048"/>
            <a:ext cx="54864" cy="932688"/>
          </a:xfrm>
          <a:prstGeom prst="rect">
            <a:avLst/>
          </a:prstGeom>
          <a:solidFill>
            <a:srgbClr val="E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615184"/>
            <a:ext cx="4727448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Разрозненные источники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008376"/>
            <a:ext cx="4681728" cy="6858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C5D0DF"/>
                </a:solidFill>
                <a:latin typeface="Arial"/>
              </a:defRPr>
            </a:pPr>
            <a:r>
              <a:t>Публикации распределены между группами VK, ОК и каналами MAX; приходится повторять поиск.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450592"/>
            <a:ext cx="5385816" cy="1389888"/>
          </a:xfrm>
          <a:prstGeom prst="roundRect">
            <a:avLst>
              <a:gd name="adj" fmla="val 12000"/>
            </a:avLst>
          </a:prstGeom>
          <a:solidFill>
            <a:srgbClr val="152C4B"/>
          </a:solidFill>
          <a:ln w="12700">
            <a:solidFill>
              <a:srgbClr val="39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6792" y="2670048"/>
            <a:ext cx="54864" cy="932688"/>
          </a:xfrm>
          <a:prstGeom prst="rect">
            <a:avLst/>
          </a:prstGeom>
          <a:solidFill>
            <a:srgbClr val="E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615184"/>
            <a:ext cx="4727448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Пропуски и лишнее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3008376"/>
            <a:ext cx="4681728" cy="6858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C5D0DF"/>
                </a:solidFill>
                <a:latin typeface="Arial"/>
              </a:defRPr>
            </a:pPr>
            <a:r>
              <a:t>Перефразирование теряется, а общие слова приводят к материалам о другом событии.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4096512"/>
            <a:ext cx="5385816" cy="1389888"/>
          </a:xfrm>
          <a:prstGeom prst="roundRect">
            <a:avLst>
              <a:gd name="adj" fmla="val 12000"/>
            </a:avLst>
          </a:prstGeom>
          <a:solidFill>
            <a:srgbClr val="152C4B"/>
          </a:solidFill>
          <a:ln w="12700">
            <a:solidFill>
              <a:srgbClr val="39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" y="4315968"/>
            <a:ext cx="54864" cy="932688"/>
          </a:xfrm>
          <a:prstGeom prst="rect">
            <a:avLst/>
          </a:prstGeom>
          <a:solidFill>
            <a:srgbClr val="E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261104"/>
            <a:ext cx="4727448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Ненадёжные сведения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4654296"/>
            <a:ext cx="4681728" cy="6858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C5D0DF"/>
                </a:solidFill>
                <a:latin typeface="Arial"/>
              </a:defRPr>
            </a:pPr>
            <a:r>
              <a:t>Нужно открыть ссылки и сверить дату, заголовок и выдержку с исходным постом.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096512"/>
            <a:ext cx="5385816" cy="1389888"/>
          </a:xfrm>
          <a:prstGeom prst="roundRect">
            <a:avLst>
              <a:gd name="adj" fmla="val 12000"/>
            </a:avLst>
          </a:prstGeom>
          <a:solidFill>
            <a:srgbClr val="152C4B"/>
          </a:solidFill>
          <a:ln w="12700">
            <a:solidFill>
              <a:srgbClr val="39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36792" y="4315968"/>
            <a:ext cx="54864" cy="932688"/>
          </a:xfrm>
          <a:prstGeom prst="rect">
            <a:avLst/>
          </a:prstGeom>
          <a:solidFill>
            <a:srgbClr val="E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4261104"/>
            <a:ext cx="4727448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Неясный итог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654296"/>
            <a:ext cx="4681728" cy="6858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C5D0DF"/>
                </a:solidFill>
                <a:latin typeface="Arial"/>
              </a:defRPr>
            </a:pPr>
            <a:r>
              <a:t>Повторный пост может удвоить счётчик, а сбой источника — выглядеть как отсутствие публикаций.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0881360" cy="39319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F1A4B1"/>
                </a:solidFill>
                <a:latin typeface="Arial"/>
              </a:defRPr>
            </a:pPr>
            <a:r>
              <a:t>Итог: подборка снова собирается вручную, хотя поиск уже был выполнен.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246888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4738B"/>
                </a:solidFill>
                <a:latin typeface="Arial"/>
              </a:defRPr>
            </a:pPr>
            <a:r>
              <a:t>МЕДИАСЛЕД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6519672"/>
            <a:ext cx="3346704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4738B"/>
                </a:solidFill>
                <a:latin typeface="Arial"/>
              </a:defRPr>
            </a:pPr>
            <a:r>
              <a:t>Решение по ТЗ, стр. 3–6  ·  04 /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676656"/>
            <a:ext cx="1499616" cy="292608"/>
          </a:xfrm>
          <a:prstGeom prst="roundRect">
            <a:avLst>
              <a:gd name="adj" fmla="val 12000"/>
            </a:avLst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76656"/>
            <a:ext cx="1316736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E51D3B"/>
                </a:solidFill>
                <a:latin typeface="Arial"/>
              </a:defRPr>
            </a:pPr>
            <a:r>
              <a:t>РЕШЕНИЕ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972800" cy="62179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14243D"/>
                </a:solidFill>
                <a:latin typeface="Arial"/>
              </a:defRPr>
            </a:pPr>
            <a:r>
              <a:t>Один запрос → проверяемые размещения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00784"/>
            <a:ext cx="10789920" cy="53035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64738B"/>
                </a:solidFill>
                <a:latin typeface="Arial"/>
              </a:defRPr>
            </a:pPr>
            <a:r>
              <a:t>Проектируемая система получает реальные посты, проверяет событие и сохраняет ссылки на оригиналы.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651760"/>
            <a:ext cx="2331720" cy="2112264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2834640"/>
            <a:ext cx="438912" cy="438912"/>
          </a:xfrm>
          <a:prstGeom prst="ellipse">
            <a:avLst/>
          </a:prstGeom>
          <a:solidFill>
            <a:srgbClr val="152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862072"/>
            <a:ext cx="438912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401568"/>
            <a:ext cx="1993392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14243D"/>
                </a:solidFill>
                <a:latin typeface="Arial"/>
              </a:defRPr>
            </a:pPr>
            <a:r>
              <a:t>Запрос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794760"/>
            <a:ext cx="1993392" cy="72237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64738B"/>
                </a:solidFill>
                <a:latin typeface="Arial"/>
              </a:defRPr>
            </a:pPr>
            <a:r>
              <a:t>Тема, человек, событие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4738B"/>
                </a:solidFill>
                <a:latin typeface="Arial"/>
              </a:defRPr>
            </a:pPr>
            <a:r>
              <a:t>или текст новости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2651760"/>
            <a:ext cx="2331720" cy="211226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66744" y="2834640"/>
            <a:ext cx="438912" cy="438912"/>
          </a:xfrm>
          <a:prstGeom prst="ellipse">
            <a:avLst/>
          </a:prstGeom>
          <a:solidFill>
            <a:srgbClr val="152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6744" y="2862072"/>
            <a:ext cx="438912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3401568"/>
            <a:ext cx="1993392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14243D"/>
                </a:solidFill>
                <a:latin typeface="Arial"/>
              </a:defRPr>
            </a:pPr>
            <a:r>
              <a:t>Сбор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3794760"/>
            <a:ext cx="1993392" cy="72237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64738B"/>
                </a:solidFill>
                <a:latin typeface="Arial"/>
              </a:defRPr>
            </a:pPr>
            <a:r>
              <a:t>Выбранные источники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4738B"/>
                </a:solidFill>
                <a:latin typeface="Arial"/>
              </a:defRPr>
            </a:pPr>
            <a:r>
              <a:t>или широкий режим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64224" y="2651760"/>
            <a:ext cx="2331720" cy="211226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37960" y="2834640"/>
            <a:ext cx="438912" cy="438912"/>
          </a:xfrm>
          <a:prstGeom prst="ellipse">
            <a:avLst/>
          </a:prstGeom>
          <a:solidFill>
            <a:srgbClr val="152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862072"/>
            <a:ext cx="438912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401568"/>
            <a:ext cx="1993392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14243D"/>
                </a:solidFill>
                <a:latin typeface="Arial"/>
              </a:defRPr>
            </a:pPr>
            <a:r>
              <a:t>Отбор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794760"/>
            <a:ext cx="1993392" cy="72237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64738B"/>
                </a:solidFill>
                <a:latin typeface="Arial"/>
              </a:defRPr>
            </a:pPr>
            <a:r>
              <a:t>Смысл + факты события: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4738B"/>
                </a:solidFill>
                <a:latin typeface="Arial"/>
              </a:defRPr>
            </a:pPr>
            <a:r>
              <a:t>место, дата, участники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651760"/>
            <a:ext cx="2331720" cy="2112264"/>
          </a:xfrm>
          <a:prstGeom prst="roundRect">
            <a:avLst>
              <a:gd name="adj" fmla="val 12000"/>
            </a:avLst>
          </a:prstGeom>
          <a:solidFill>
            <a:srgbClr val="FFF0F2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09176" y="2834640"/>
            <a:ext cx="438912" cy="438912"/>
          </a:xfrm>
          <a:prstGeom prst="ellipse">
            <a:avLst/>
          </a:prstGeom>
          <a:solidFill>
            <a:srgbClr val="E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9176" y="2862072"/>
            <a:ext cx="438912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3401568"/>
            <a:ext cx="1993392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14243D"/>
                </a:solidFill>
                <a:latin typeface="Arial"/>
              </a:defRPr>
            </a:pPr>
            <a:r>
              <a:t>Подборка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9176" y="3794760"/>
            <a:ext cx="1993392" cy="72237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64738B"/>
                </a:solidFill>
                <a:latin typeface="Arial"/>
              </a:defRPr>
            </a:pPr>
            <a:r>
              <a:t>Отдельные размещения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4738B"/>
                </a:solidFill>
                <a:latin typeface="Arial"/>
              </a:defRPr>
            </a:pPr>
            <a:r>
              <a:t>и прямые ссылки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384" y="3410712"/>
            <a:ext cx="393192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300"/>
              </a:spcAft>
              <a:defRPr sz="2400" b="1">
                <a:solidFill>
                  <a:srgbClr val="E51D3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410712"/>
            <a:ext cx="393192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300"/>
              </a:spcAft>
              <a:defRPr sz="2400" b="1">
                <a:solidFill>
                  <a:srgbClr val="E51D3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14816" y="3410712"/>
            <a:ext cx="393192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300"/>
              </a:spcAft>
              <a:defRPr sz="2400" b="1">
                <a:solidFill>
                  <a:srgbClr val="E51D3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" y="5202936"/>
            <a:ext cx="10945368" cy="804672"/>
          </a:xfrm>
          <a:prstGeom prst="roundRect">
            <a:avLst>
              <a:gd name="adj" fmla="val 12000"/>
            </a:avLst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358384"/>
            <a:ext cx="1037844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Разные публикации считаем отдельно; повторное обнаружение того же поста не увеличивает итог.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"/>
            <a:ext cx="246888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4738B"/>
                </a:solidFill>
                <a:latin typeface="Arial"/>
              </a:defRPr>
            </a:pPr>
            <a:r>
              <a:t>МЕДИАСЛЕД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6519672"/>
            <a:ext cx="3346704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4738B"/>
                </a:solidFill>
                <a:latin typeface="Arial"/>
              </a:defRPr>
            </a:pPr>
            <a:r>
              <a:t>ТЗ, стр. 4–6  ·  05 /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676656"/>
            <a:ext cx="1499616" cy="292608"/>
          </a:xfrm>
          <a:prstGeom prst="roundRect">
            <a:avLst>
              <a:gd name="adj" fmla="val 12000"/>
            </a:avLst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76656"/>
            <a:ext cx="1316736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E51D3B"/>
                </a:solidFill>
                <a:latin typeface="Arial"/>
              </a:defRPr>
            </a:pPr>
            <a:r>
              <a:t>ОХВАТ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972800" cy="62179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14243D"/>
                </a:solidFill>
                <a:latin typeface="Arial"/>
              </a:defRPr>
            </a:pPr>
            <a:r>
              <a:t>Два режима поиска — с понятными границами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00784"/>
            <a:ext cx="10789920" cy="53035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64738B"/>
                </a:solidFill>
                <a:latin typeface="Arial"/>
              </a:defRPr>
            </a:pPr>
            <a:r>
              <a:t>Пользователь выбирает глубину поиска, а система показывает, что действительно обработано.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04872"/>
            <a:ext cx="5385816" cy="283464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660904"/>
            <a:ext cx="4946904" cy="40233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14243D"/>
                </a:solidFill>
                <a:latin typeface="Arial"/>
              </a:defRPr>
            </a:pPr>
            <a:r>
              <a:t>По выбранным источникам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099816"/>
            <a:ext cx="494690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E51D3B"/>
                </a:solidFill>
                <a:latin typeface="Arial"/>
              </a:defRPr>
            </a:pPr>
            <a:r>
              <a:t>Контролируемая область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630168"/>
            <a:ext cx="82296" cy="82296"/>
          </a:xfrm>
          <a:prstGeom prst="ellipse">
            <a:avLst/>
          </a:prstGeom>
          <a:solidFill>
            <a:srgbClr val="E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529584"/>
            <a:ext cx="461772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4243D"/>
                </a:solidFill>
                <a:latin typeface="Arial"/>
              </a:defRPr>
            </a:pPr>
            <a:r>
              <a:t>Конкретные группы и каналы задаёт сотрудник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050792"/>
            <a:ext cx="82296" cy="82296"/>
          </a:xfrm>
          <a:prstGeom prst="ellipse">
            <a:avLst/>
          </a:prstGeom>
          <a:solidFill>
            <a:srgbClr val="E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950208"/>
            <a:ext cx="461772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4243D"/>
                </a:solidFill>
                <a:latin typeface="Arial"/>
              </a:defRPr>
            </a:pPr>
            <a:r>
              <a:t>У каждого источника виден результат обработки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471416"/>
            <a:ext cx="82296" cy="82296"/>
          </a:xfrm>
          <a:prstGeom prst="ellipse">
            <a:avLst/>
          </a:prstGeom>
          <a:solidFill>
            <a:srgbClr val="E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370832"/>
            <a:ext cx="461772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4243D"/>
                </a:solidFill>
                <a:latin typeface="Arial"/>
              </a:defRPr>
            </a:pPr>
            <a:r>
              <a:t>Подходит для регулярной проверки известного списка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404872"/>
            <a:ext cx="5385816" cy="283464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2660904"/>
            <a:ext cx="4946904" cy="40233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14243D"/>
                </a:solidFill>
                <a:latin typeface="Arial"/>
              </a:defRPr>
            </a:pPr>
            <a:r>
              <a:t>Шире списка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3099816"/>
            <a:ext cx="494690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E51D3B"/>
                </a:solidFill>
                <a:latin typeface="Arial"/>
              </a:defRPr>
            </a:pPr>
            <a:r>
              <a:t>По доступным публичным материалам</a:t>
            </a:r>
          </a:p>
        </p:txBody>
      </p:sp>
      <p:sp>
        <p:nvSpPr>
          <p:cNvPr id="20" name="Oval 19"/>
          <p:cNvSpPr/>
          <p:nvPr/>
        </p:nvSpPr>
        <p:spPr>
          <a:xfrm>
            <a:off x="6419088" y="3630168"/>
            <a:ext cx="82296" cy="82296"/>
          </a:xfrm>
          <a:prstGeom prst="ellipse">
            <a:avLst/>
          </a:prstGeom>
          <a:solidFill>
            <a:srgbClr val="E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3529584"/>
            <a:ext cx="461772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4243D"/>
                </a:solidFill>
                <a:latin typeface="Arial"/>
              </a:defRPr>
            </a:pPr>
            <a:r>
              <a:t>Ищем новые размещения вне справочника</a:t>
            </a:r>
          </a:p>
        </p:txBody>
      </p:sp>
      <p:sp>
        <p:nvSpPr>
          <p:cNvPr id="22" name="Oval 21"/>
          <p:cNvSpPr/>
          <p:nvPr/>
        </p:nvSpPr>
        <p:spPr>
          <a:xfrm>
            <a:off x="6419088" y="4050792"/>
            <a:ext cx="82296" cy="82296"/>
          </a:xfrm>
          <a:prstGeom prst="ellipse">
            <a:avLst/>
          </a:prstGeom>
          <a:solidFill>
            <a:srgbClr val="E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3950208"/>
            <a:ext cx="461772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4243D"/>
                </a:solidFill>
                <a:latin typeface="Arial"/>
              </a:defRPr>
            </a:pPr>
            <a:r>
              <a:t>Период и Красноярский край сохраняются</a:t>
            </a:r>
          </a:p>
        </p:txBody>
      </p:sp>
      <p:sp>
        <p:nvSpPr>
          <p:cNvPr id="24" name="Oval 23"/>
          <p:cNvSpPr/>
          <p:nvPr/>
        </p:nvSpPr>
        <p:spPr>
          <a:xfrm>
            <a:off x="6419088" y="4471416"/>
            <a:ext cx="82296" cy="82296"/>
          </a:xfrm>
          <a:prstGeom prst="ellipse">
            <a:avLst/>
          </a:prstGeom>
          <a:solidFill>
            <a:srgbClr val="E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4370832"/>
            <a:ext cx="461772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4243D"/>
                </a:solidFill>
                <a:latin typeface="Arial"/>
              </a:defRPr>
            </a:pPr>
            <a:r>
              <a:t>Ограничения площадок показываем явно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5504688"/>
            <a:ext cx="10945368" cy="484632"/>
          </a:xfrm>
          <a:prstGeom prst="roundRect">
            <a:avLst>
              <a:gd name="adj" fmla="val 12000"/>
            </a:avLst>
          </a:prstGeom>
          <a:solidFill>
            <a:srgbClr val="F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5577840"/>
            <a:ext cx="1042416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E51D3B"/>
                </a:solidFill>
                <a:latin typeface="Arial"/>
              </a:defRPr>
            </a:pPr>
            <a:r>
              <a:t>Широкий режим расширяет охват, но не обещает просмотреть абсолютно все публикации соцсети.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792" y="640080"/>
            <a:ext cx="2551176" cy="292608"/>
          </a:xfrm>
          <a:prstGeom prst="roundRect">
            <a:avLst>
              <a:gd name="adj" fmla="val 12000"/>
            </a:avLst>
          </a:prstGeom>
          <a:solidFill>
            <a:srgbClr val="2C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2368296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РЕЗУЛЬТАТ ДЛЯ СОТРУДНИКА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936224" cy="62179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Подборка, которую можно быстро проверить</a:t>
            </a:r>
          </a:p>
        </p:txBody>
      </p:sp>
      <p:sp>
        <p:nvSpPr>
          <p:cNvPr id="6" name="Oval 5"/>
          <p:cNvSpPr/>
          <p:nvPr/>
        </p:nvSpPr>
        <p:spPr>
          <a:xfrm>
            <a:off x="649224" y="2103120"/>
            <a:ext cx="384048" cy="384048"/>
          </a:xfrm>
          <a:prstGeom prst="ellipse">
            <a:avLst/>
          </a:prstGeom>
          <a:solidFill>
            <a:srgbClr val="E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2121408"/>
            <a:ext cx="38404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93392"/>
            <a:ext cx="4919472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Видно, что найдено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68296"/>
            <a:ext cx="4892040" cy="5577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C5D0DF"/>
                </a:solidFill>
                <a:latin typeface="Arial"/>
              </a:defRPr>
            </a:pPr>
            <a:r>
              <a:t>Количество, источник, заголовок, дата или «недоступна», выдержка.</a:t>
            </a:r>
          </a:p>
        </p:txBody>
      </p:sp>
      <p:sp>
        <p:nvSpPr>
          <p:cNvPr id="10" name="Oval 9"/>
          <p:cNvSpPr/>
          <p:nvPr/>
        </p:nvSpPr>
        <p:spPr>
          <a:xfrm>
            <a:off x="649224" y="3273552"/>
            <a:ext cx="384048" cy="384048"/>
          </a:xfrm>
          <a:prstGeom prst="ellipse">
            <a:avLst/>
          </a:prstGeom>
          <a:solidFill>
            <a:srgbClr val="E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3291840"/>
            <a:ext cx="38404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63824"/>
            <a:ext cx="4919472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Видно, что не удалось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38728"/>
            <a:ext cx="4892040" cy="5577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C5D0DF"/>
                </a:solidFill>
                <a:latin typeface="Arial"/>
              </a:defRPr>
            </a:pPr>
            <a:r>
              <a:t>Поиск, пустая выдача и ошибка источника имеют разные состояния.</a:t>
            </a:r>
          </a:p>
        </p:txBody>
      </p:sp>
      <p:sp>
        <p:nvSpPr>
          <p:cNvPr id="14" name="Oval 13"/>
          <p:cNvSpPr/>
          <p:nvPr/>
        </p:nvSpPr>
        <p:spPr>
          <a:xfrm>
            <a:off x="649224" y="4443984"/>
            <a:ext cx="384048" cy="384048"/>
          </a:xfrm>
          <a:prstGeom prst="ellipse">
            <a:avLst/>
          </a:prstGeom>
          <a:solidFill>
            <a:srgbClr val="E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4462272"/>
            <a:ext cx="38404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34256"/>
            <a:ext cx="4919472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Можно продолжить работу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709160"/>
            <a:ext cx="4892040" cy="5577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C5D0DF"/>
                </a:solidFill>
                <a:latin typeface="Arial"/>
              </a:defRPr>
            </a:pPr>
            <a:r>
              <a:t>Найденное сохраняется при частичном сбое; XLSX повторяет подборку.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9088" y="1947672"/>
            <a:ext cx="5074920" cy="34472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185416"/>
            <a:ext cx="455371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14243D"/>
                </a:solidFill>
                <a:latin typeface="Arial"/>
              </a:defRPr>
            </a:pPr>
            <a:r>
              <a:t>Найдено 3 размещения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5976" y="2715768"/>
            <a:ext cx="4572000" cy="65836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03136" y="2843784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D7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788920"/>
            <a:ext cx="3749039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4243D"/>
                </a:solidFill>
                <a:latin typeface="Arial"/>
              </a:defRPr>
            </a:pPr>
            <a:r>
              <a:t>Открылся новый ледовый дворец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081528"/>
            <a:ext cx="3749039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64738B"/>
                </a:solidFill>
                <a:latin typeface="Arial"/>
              </a:defRPr>
            </a:pPr>
            <a:r>
              <a:t>VK · Источник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5976" y="3511296"/>
            <a:ext cx="4572000" cy="65836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03136" y="363931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F38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3584448"/>
            <a:ext cx="3749039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4243D"/>
                </a:solidFill>
                <a:latin typeface="Arial"/>
              </a:defRPr>
            </a:pPr>
            <a:r>
              <a:t>Как выглядит новая ледовая арена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877056"/>
            <a:ext cx="3749039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64738B"/>
                </a:solidFill>
                <a:latin typeface="Arial"/>
              </a:defRPr>
            </a:pPr>
            <a:r>
              <a:t>ОК · Источник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5976" y="4306824"/>
            <a:ext cx="4572000" cy="65836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03136" y="4434840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685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4379976"/>
            <a:ext cx="3749039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4243D"/>
                </a:solidFill>
                <a:latin typeface="Arial"/>
              </a:defRPr>
            </a:pPr>
            <a:r>
              <a:t>Первые тренировки на новой арене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672584"/>
            <a:ext cx="3749039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64738B"/>
                </a:solidFill>
                <a:latin typeface="Arial"/>
              </a:defRPr>
            </a:pPr>
            <a:r>
              <a:t>MAX · Источник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84264" y="5074920"/>
            <a:ext cx="452628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4738B"/>
                </a:solidFill>
                <a:latin typeface="Arial"/>
              </a:defRPr>
            </a:pPr>
            <a:r>
              <a:t>Пример интерфейсной выдачи, не результаты реального поиска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" y="5925312"/>
            <a:ext cx="10936224" cy="429768"/>
          </a:xfrm>
          <a:prstGeom prst="roundRect">
            <a:avLst>
              <a:gd name="adj" fmla="val 12000"/>
            </a:avLst>
          </a:prstGeom>
          <a:solidFill>
            <a:srgbClr val="26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5998464"/>
            <a:ext cx="10515600" cy="28346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DBE4EF"/>
                </a:solidFill>
                <a:latin typeface="Arial"/>
              </a:defRPr>
            </a:pPr>
            <a:r>
              <a:t>Текущий статус проекта: фронтенд и OpenAPI готовы; коннекторы соцсетей и оценка качества требуют реализации.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